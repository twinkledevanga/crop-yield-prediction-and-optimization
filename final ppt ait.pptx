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BCBC565-3142-40E3-8391-901DA0E689D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BCBC565-3142-40E3-8391-901DA0E689D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CBC565-3142-40E3-8391-901DA0E689D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CBC565-3142-40E3-8391-901DA0E689D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BCBC565-3142-40E3-8391-901DA0E689D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BCBC565-3142-40E3-8391-901DA0E689D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BCBC565-3142-40E3-8391-901DA0E689D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294A20-CA15-423C-BEC4-184372A7BFA7}"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BCBC565-3142-40E3-8391-901DA0E689D4}" type="datetimeFigureOut">
              <a:rPr lang="en-IN" smtClean="0"/>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8294A20-CA15-423C-BEC4-184372A7BFA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283506"/>
            <a:ext cx="8825658" cy="807875"/>
          </a:xfrm>
        </p:spPr>
        <p:txBody>
          <a:bodyPr/>
          <a:lstStyle/>
          <a:p>
            <a:pPr algn="l"/>
            <a:r>
              <a:rPr lang="en-IN" sz="2400" dirty="0">
                <a:latin typeface="Times New Roman" panose="02020603050405020304" pitchFamily="18" charset="0"/>
                <a:cs typeface="Times New Roman" panose="02020603050405020304" pitchFamily="18" charset="0"/>
              </a:rPr>
              <a:t>BASIC DETAIL OF TEAM AND PROBLEM STATEMENT</a:t>
            </a:r>
            <a:endParaRPr lang="en-IN" sz="2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54955" y="1248697"/>
            <a:ext cx="8825658" cy="4390103"/>
          </a:xfrm>
        </p:spPr>
        <p:txBody>
          <a:bodyPr>
            <a:normAutofit lnSpcReduction="10000"/>
          </a:bodyPr>
          <a:lstStyle/>
          <a:p>
            <a:pPr algn="l"/>
            <a:r>
              <a:rPr lang="en-IN" sz="2000" b="1" dirty="0">
                <a:latin typeface="Times New Roman" panose="02020603050405020304" pitchFamily="18" charset="0"/>
                <a:cs typeface="Times New Roman" panose="02020603050405020304" pitchFamily="18" charset="0"/>
              </a:rPr>
              <a:t>PROBLEM STATEMENT TITLE: </a:t>
            </a:r>
            <a:r>
              <a:rPr lang="en-IN" sz="2400" b="1" dirty="0">
                <a:latin typeface="Times New Roman" panose="02020603050405020304" pitchFamily="18" charset="0"/>
                <a:ea typeface="Calibri" panose="020F0502020204030204" pitchFamily="34" charset="0"/>
                <a:cs typeface="Times New Roman" panose="02020603050405020304" pitchFamily="18" charset="0"/>
              </a:rPr>
              <a:t>Crop yield predictions and optimization</a:t>
            </a:r>
            <a:endParaRPr lang="en-IN"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r>
              <a:rPr lang="en-IN" sz="2000" b="1" dirty="0">
                <a:latin typeface="Times New Roman" panose="02020603050405020304" pitchFamily="18" charset="0"/>
                <a:cs typeface="Times New Roman" panose="02020603050405020304" pitchFamily="18" charset="0"/>
              </a:rPr>
              <a:t>TEAM NAME: REJUVENATE</a:t>
            </a:r>
            <a:endParaRPr lang="en-IN" sz="20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r>
              <a:rPr lang="en-IN" sz="2000" b="1" dirty="0">
                <a:latin typeface="Times New Roman" panose="02020603050405020304" pitchFamily="18" charset="0"/>
                <a:cs typeface="Times New Roman" panose="02020603050405020304" pitchFamily="18" charset="0"/>
              </a:rPr>
              <a:t>TEAM LEADER NAME: LIKHITHA D M</a:t>
            </a:r>
            <a:endParaRPr lang="en-IN" sz="20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r>
              <a:rPr lang="en-IN" sz="2000" b="1" dirty="0">
                <a:latin typeface="Times New Roman" panose="02020603050405020304" pitchFamily="18" charset="0"/>
                <a:cs typeface="Times New Roman" panose="02020603050405020304" pitchFamily="18" charset="0"/>
              </a:rPr>
              <a:t>INSTITUTE NAME: SIDDAGANGA INSTITUTE COLLEGE</a:t>
            </a:r>
            <a:endParaRPr lang="en-IN" sz="20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r>
              <a:rPr lang="en-IN" sz="2000" b="1" dirty="0">
                <a:latin typeface="Times New Roman" panose="02020603050405020304" pitchFamily="18" charset="0"/>
                <a:cs typeface="Times New Roman" panose="02020603050405020304" pitchFamily="18" charset="0"/>
              </a:rPr>
              <a:t>THEME NAME: AGRITECH  AND SUSTAINABILITY</a:t>
            </a:r>
            <a:r>
              <a:rPr lang="en-IN" sz="2000" b="0" i="0" dirty="0">
                <a:solidFill>
                  <a:srgbClr val="FFFFFF"/>
                </a:solidFill>
                <a:effectLst/>
                <a:latin typeface="Black Ops One"/>
              </a:rPr>
              <a:t> Smart Recycling Tracker</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8090"/>
          </a:xfrm>
        </p:spPr>
        <p:txBody>
          <a:bodyPr>
            <a:normAutofit/>
          </a:bodyPr>
          <a:lstStyle/>
          <a:p>
            <a:pPr algn="l"/>
            <a:r>
              <a:rPr lang="en-IN" sz="2400" dirty="0">
                <a:latin typeface="Times New Roman" panose="02020603050405020304" pitchFamily="18" charset="0"/>
                <a:cs typeface="Times New Roman" panose="02020603050405020304" pitchFamily="18" charset="0"/>
              </a:rPr>
              <a:t>PROBLEM STATEMENT </a:t>
            </a:r>
            <a:r>
              <a:rPr lang="en-IN"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1192" y="1396741"/>
            <a:ext cx="8596668" cy="4851659"/>
          </a:xfrm>
        </p:spPr>
        <p:txBody>
          <a:bodyPr>
            <a:normAutofit lnSpcReduction="10000"/>
          </a:bodyPr>
          <a:lstStyle/>
          <a:p>
            <a:pPr marL="0" indent="0">
              <a:buNone/>
            </a:pPr>
            <a:r>
              <a:rPr lang="en-US" altLang="en-US" dirty="0">
                <a:latin typeface="Times New Roman" panose="02020603050405020304" pitchFamily="18" charset="0"/>
                <a:cs typeface="Times New Roman" panose="02020603050405020304" pitchFamily="18" charset="0"/>
              </a:rPr>
              <a:t>Modern agriculture faces pressing challenges such as climate unpredictability, resource scarcity, and soil degradation, all while trying to meet growing food demands. Traditional methods often lack the precision to adapt effectively. This project proposes a machine learning-based solution to predict crop yields and recommend optimal crops using environmental and historical data. By offering accessible, data-driven insights, it aims to empower farmers with sustainable</a:t>
            </a:r>
            <a:r>
              <a:rPr lang="en-US" altLang="en-US" dirty="0">
                <a:latin typeface="Times New Roman" panose="02020603050405020304" pitchFamily="18" charset="0"/>
                <a:cs typeface="Times New Roman" panose="02020603050405020304" pitchFamily="18" charset="0"/>
              </a:rPr>
              <a:t>, efficient decision-making </a:t>
            </a:r>
            <a:r>
              <a:rPr lang="en-US" altLang="en-US" dirty="0">
                <a:latin typeface="Times New Roman" panose="02020603050405020304" pitchFamily="18" charset="0"/>
                <a:cs typeface="Times New Roman" panose="02020603050405020304" pitchFamily="18" charset="0"/>
              </a:rPr>
              <a:t>tools.</a:t>
            </a:r>
            <a:endParaRPr lang="en-US" altLang="en-US" dirty="0">
              <a:latin typeface="Times New Roman" panose="02020603050405020304" pitchFamily="18" charset="0"/>
              <a:cs typeface="Times New Roman" panose="02020603050405020304" pitchFamily="18" charset="0"/>
            </a:endParaRPr>
          </a:p>
          <a:p>
            <a:pPr marL="0" indent="0">
              <a:buNone/>
            </a:pPr>
            <a:endParaRPr lang="en-US" altLang="en-US" dirty="0">
              <a:latin typeface="Times New Roman" panose="02020603050405020304" pitchFamily="18" charset="0"/>
              <a:cs typeface="Times New Roman" panose="02020603050405020304" pitchFamily="18" charset="0"/>
            </a:endParaRPr>
          </a:p>
          <a:p>
            <a:pPr marL="0" indent="0" algn="l">
              <a:buNone/>
            </a:pPr>
            <a:r>
              <a:rPr lang="en-IN" sz="2400"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rPr>
              <a:t>PROPOSED SOLUTION:</a:t>
            </a:r>
            <a:endParaRPr lang="en-US" altLang="en-US" sz="2400" dirty="0">
              <a:ln/>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rPr>
              <a:t>This project focuses on developing a comprehensive, user-friendly platform powered by machine learning to support modern farming. It will accurately predict crop yields using historical and environmental data, enabling better planning. The system will also recommend the most suitable crops for specific soil and climate conditions, boosting productivity and profitability. Additionally, it will offer insights on efficient resource use—such as water, fertilizers, and seeds—to reduce waste and environmental impact. Designed for accessibility, the platform will empower farmers and agricultural stakeholders with practical, data-driven tools to enhance sustainability and decision-making.</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8594"/>
          </a:xfrm>
        </p:spPr>
        <p:txBody>
          <a:bodyPr>
            <a:normAutofit/>
          </a:bodyPr>
          <a:lstStyle/>
          <a:p>
            <a:r>
              <a:rPr lang="en-IN" sz="2400" dirty="0">
                <a:latin typeface="Times New Roman" panose="02020603050405020304" pitchFamily="18" charset="0"/>
                <a:cs typeface="Times New Roman" panose="02020603050405020304" pitchFamily="18" charset="0"/>
              </a:rPr>
              <a:t>TECHNOLOGY STACK:</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278195"/>
            <a:ext cx="8596668" cy="4763168"/>
          </a:xfrm>
        </p:spPr>
        <p:txBody>
          <a:bodyPr>
            <a:normAutofit fontScale="90000" lnSpcReduction="10000"/>
          </a:bodyPr>
          <a:lstStyle/>
          <a:p>
            <a:pPr marL="0" indent="0">
              <a:buNone/>
            </a:pPr>
            <a:r>
              <a:rPr lang="en-US" sz="1400" dirty="0"/>
              <a:t>1. Programming Languages:</a:t>
            </a:r>
            <a:endParaRPr lang="en-US" sz="1400" dirty="0"/>
          </a:p>
          <a:p>
            <a:pPr marL="0" indent="0">
              <a:buNone/>
            </a:pPr>
            <a:r>
              <a:rPr lang="en-US" sz="1400" dirty="0"/>
              <a:t>     Python for machine learning model development and data processing. </a:t>
            </a:r>
            <a:r>
              <a:rPr lang="en-US" sz="1400" dirty="0">
                <a:sym typeface="+mn-ea"/>
              </a:rPr>
              <a:t>JavaScript for the interactive web interface.</a:t>
            </a:r>
            <a:endParaRPr lang="en-US" sz="1400" dirty="0"/>
          </a:p>
          <a:p>
            <a:pPr marL="0" indent="0">
              <a:buNone/>
            </a:pPr>
            <a:r>
              <a:rPr lang="en-US" sz="1400" dirty="0"/>
              <a:t>  </a:t>
            </a:r>
            <a:r>
              <a:rPr lang="en-IN" sz="1400" dirty="0"/>
              <a:t> Libraries and Frameworks :</a:t>
            </a:r>
            <a:endParaRPr lang="en-IN" sz="1400" dirty="0"/>
          </a:p>
          <a:p>
            <a:pPr marL="0" indent="0">
              <a:buNone/>
            </a:pPr>
            <a:r>
              <a:rPr lang="en-IN" sz="1400" dirty="0"/>
              <a:t>   TensorFlow and Scikit-learn for implementing machine learning models. </a:t>
            </a:r>
            <a:endParaRPr lang="en-IN" sz="1400" dirty="0"/>
          </a:p>
          <a:p>
            <a:pPr marL="0" indent="0">
              <a:buNone/>
            </a:pPr>
            <a:r>
              <a:rPr lang="en-IN" sz="1400" dirty="0"/>
              <a:t>   Pandas and NumPy for data </a:t>
            </a:r>
            <a:r>
              <a:rPr lang="en-IN" sz="1400" dirty="0"/>
              <a:t>manipulation and analysis. </a:t>
            </a:r>
            <a:endParaRPr lang="en-IN" sz="1400" dirty="0"/>
          </a:p>
          <a:p>
            <a:pPr marL="0" indent="0">
              <a:buNone/>
            </a:pPr>
            <a:r>
              <a:rPr lang="en-IN" sz="1400" dirty="0"/>
              <a:t>   Flask for backend API development.</a:t>
            </a:r>
            <a:endParaRPr lang="en-IN" sz="1400" dirty="0"/>
          </a:p>
          <a:p>
            <a:pPr marL="0" indent="0">
              <a:buNone/>
            </a:pPr>
            <a:r>
              <a:rPr lang="en-IN" sz="1400" dirty="0"/>
              <a:t>   React.js for frontend user interface.</a:t>
            </a:r>
            <a:endParaRPr lang="en-IN" sz="1400" dirty="0"/>
          </a:p>
          <a:p>
            <a:pPr marL="0" indent="0">
              <a:buNone/>
            </a:pPr>
            <a:r>
              <a:rPr lang="en-US" sz="1400" dirty="0"/>
              <a:t>Database and Storage:</a:t>
            </a:r>
            <a:endParaRPr lang="en-US" sz="1400" dirty="0"/>
          </a:p>
          <a:p>
            <a:pPr marL="0" indent="0">
              <a:buNone/>
            </a:pPr>
            <a:r>
              <a:rPr lang="en-US" sz="1400" dirty="0"/>
              <a:t>   PostgreSQL for storing historical data and real-time inputs. </a:t>
            </a:r>
            <a:endParaRPr lang="en-US" sz="1400" dirty="0"/>
          </a:p>
          <a:p>
            <a:pPr marL="0" indent="0">
              <a:buNone/>
            </a:pPr>
            <a:r>
              <a:rPr lang="en-US" sz="1400" dirty="0"/>
              <a:t>   Cloud-based storage solutions for scalability and accessibility</a:t>
            </a:r>
            <a:endParaRPr lang="en-US" sz="1400" dirty="0"/>
          </a:p>
          <a:p>
            <a:pPr marL="0" indent="0">
              <a:buNone/>
            </a:pPr>
            <a:r>
              <a:rPr lang="en-US" sz="1400" dirty="0">
                <a:sym typeface="+mn-ea"/>
              </a:rPr>
              <a:t>Algorithmic Approach:</a:t>
            </a:r>
            <a:endParaRPr lang="en-US" sz="1400" dirty="0"/>
          </a:p>
          <a:p>
            <a:pPr marL="0" indent="0">
              <a:buNone/>
            </a:pPr>
            <a:r>
              <a:rPr lang="en-US" sz="1400" dirty="0">
                <a:sym typeface="+mn-ea"/>
              </a:rPr>
              <a:t>  Neural Networks – Used for high-accuracy crop yield prediction by identifying    complex patterns in historical data. </a:t>
            </a:r>
            <a:endParaRPr lang="en-US" sz="1400" dirty="0"/>
          </a:p>
          <a:p>
            <a:pPr marL="0" indent="0">
              <a:buNone/>
            </a:pPr>
            <a:r>
              <a:rPr lang="en-US" sz="1400" dirty="0">
                <a:sym typeface="+mn-ea"/>
              </a:rPr>
              <a:t> Random Forest – Utilized for crop recommendation by analyzing multiple environmental factors. </a:t>
            </a:r>
            <a:endParaRPr lang="en-US" sz="1400" dirty="0"/>
          </a:p>
          <a:p>
            <a:pPr marL="0" indent="0">
              <a:buNone/>
            </a:pPr>
            <a:r>
              <a:rPr lang="en-US" sz="1400" dirty="0">
                <a:sym typeface="+mn-ea"/>
              </a:rPr>
              <a:t> Regression Analysis – Helps in determining yield trends over time</a:t>
            </a:r>
            <a:endParaRPr lang="en-IN" sz="1400" dirty="0"/>
          </a:p>
          <a:p>
            <a:pPr marL="0" indent="0">
              <a:buNone/>
            </a:pP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362960" y="0"/>
            <a:ext cx="4206240" cy="68580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29265"/>
          </a:xfrm>
        </p:spPr>
        <p:txBody>
          <a:bodyPr>
            <a:normAutofit/>
          </a:bodyPr>
          <a:lstStyle/>
          <a:p>
            <a:r>
              <a:rPr lang="en-IN" sz="2400" dirty="0">
                <a:latin typeface="Times New Roman" panose="02020603050405020304" pitchFamily="18" charset="0"/>
                <a:cs typeface="Times New Roman" panose="02020603050405020304" pitchFamily="18" charset="0"/>
              </a:rPr>
              <a:t>APPLICATION:</a:t>
            </a:r>
            <a:endParaRPr lang="en-IN"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238865"/>
            <a:ext cx="8596668" cy="4802497"/>
          </a:xfrm>
        </p:spPr>
        <p:txBody>
          <a:bodyPr>
            <a:normAutofit fontScale="92500" lnSpcReduction="10000"/>
          </a:bodyPr>
          <a:lstStyle/>
          <a:p>
            <a:pPr>
              <a:buFont typeface="+mj-lt"/>
              <a:buAutoNum type="arabicPeriod"/>
            </a:pPr>
            <a:r>
              <a:rPr lang="en-US" b="1" dirty="0"/>
              <a:t>Real-Time Crop Recommendations:</a:t>
            </a:r>
            <a:br>
              <a:rPr lang="en-US" dirty="0"/>
            </a:br>
            <a:r>
              <a:rPr lang="en-US" dirty="0"/>
              <a:t>The system uses live environmental data—like temperature, soil moisture, and rainfall—to suggest the most suitable crops for specific conditions, helping farmers make timely and accurate decisions.</a:t>
            </a:r>
            <a:endParaRPr lang="en-US" dirty="0"/>
          </a:p>
          <a:p>
            <a:pPr>
              <a:buFont typeface="+mj-lt"/>
              <a:buAutoNum type="arabicPeriod"/>
            </a:pPr>
            <a:r>
              <a:rPr lang="en-US" b="1" dirty="0"/>
              <a:t>Web-Based Farmer Interface:</a:t>
            </a:r>
            <a:br>
              <a:rPr lang="en-US" dirty="0"/>
            </a:br>
            <a:r>
              <a:rPr lang="en-US" dirty="0"/>
              <a:t>A user-friendly web application was developed, allowing farmers to easily access crop predictions and recommendations anytime, bridging the gap between technology and practical farming.</a:t>
            </a:r>
            <a:endParaRPr lang="en-US" dirty="0"/>
          </a:p>
          <a:p>
            <a:pPr>
              <a:buFont typeface="+mj-lt"/>
              <a:buAutoNum type="arabicPeriod"/>
            </a:pPr>
            <a:r>
              <a:rPr lang="en-US" b="1" dirty="0"/>
              <a:t>Optimized Resource Usage:</a:t>
            </a:r>
            <a:br>
              <a:rPr lang="en-US" dirty="0"/>
            </a:br>
            <a:r>
              <a:rPr lang="en-US" dirty="0"/>
              <a:t>The system provides guidance on the efficient use of water, fertilizers, and land, reducing waste and promoting sustainable farming practices.</a:t>
            </a:r>
            <a:endParaRPr lang="en-US" dirty="0"/>
          </a:p>
          <a:p>
            <a:pPr>
              <a:buFont typeface="+mj-lt"/>
              <a:buAutoNum type="arabicPeriod"/>
            </a:pPr>
            <a:r>
              <a:rPr lang="en-US" b="1" dirty="0"/>
              <a:t>Improved Farm Productivity:</a:t>
            </a:r>
            <a:br>
              <a:rPr lang="en-US" dirty="0"/>
            </a:br>
            <a:r>
              <a:rPr lang="en-US" dirty="0"/>
              <a:t>By supporting better crop management decisions, the platform helps increase yield and profitability, reducing risks associated with traditional guesswork.</a:t>
            </a:r>
            <a:endParaRPr lang="en-US" dirty="0"/>
          </a:p>
          <a:p>
            <a:pPr>
              <a:buFont typeface="+mj-lt"/>
              <a:buAutoNum type="arabicPeriod"/>
            </a:pPr>
            <a:r>
              <a:rPr lang="en-US" b="1" dirty="0"/>
              <a:t>Foundation for Future Smart Farming Tools:</a:t>
            </a:r>
            <a:br>
              <a:rPr lang="en-US" dirty="0"/>
            </a:br>
            <a:r>
              <a:rPr lang="en-US" dirty="0"/>
              <a:t>The project lays the groundwork for integrating advanced technologies like IoT, satellite data, and mobile access to create a complete precision agriculture system.</a:t>
            </a:r>
            <a:endParaRPr lang="en-US" dirty="0"/>
          </a:p>
          <a:p>
            <a:pPr marL="0" indent="0">
              <a:buNone/>
            </a:pPr>
            <a:endParaRPr lang="en-IN"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3354</Words>
  <Application>WPS Slides</Application>
  <PresentationFormat>Widescreen</PresentationFormat>
  <Paragraphs>46</Paragraphs>
  <Slides>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vt:i4>
      </vt:variant>
    </vt:vector>
  </HeadingPairs>
  <TitlesOfParts>
    <vt:vector size="18" baseType="lpstr">
      <vt:lpstr>Arial</vt:lpstr>
      <vt:lpstr>SimSun</vt:lpstr>
      <vt:lpstr>Wingdings</vt:lpstr>
      <vt:lpstr>Wingdings 3</vt:lpstr>
      <vt:lpstr>Arial</vt:lpstr>
      <vt:lpstr>Times New Roman</vt:lpstr>
      <vt:lpstr>Calibri</vt:lpstr>
      <vt:lpstr>Black Ops One</vt:lpstr>
      <vt:lpstr>Segoe Print</vt:lpstr>
      <vt:lpstr>Microsoft YaHei</vt:lpstr>
      <vt:lpstr>Arial Unicode MS</vt:lpstr>
      <vt:lpstr>Trebuchet MS</vt:lpstr>
      <vt:lpstr>Facet</vt:lpstr>
      <vt:lpstr>BASIC DETAIL OF TEAM AND PROBLEM STATEMENT</vt:lpstr>
      <vt:lpstr>PROBLEM STATEMENT :</vt:lpstr>
      <vt:lpstr>TECHNOLOGY STACK:</vt:lpstr>
      <vt:lpstr>PowerPoint 演示文稿</vt:lpstr>
      <vt:lpstr>APPLICATION: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Jahnavi K</dc:creator>
  <cp:lastModifiedBy>Likhitha Dm</cp:lastModifiedBy>
  <cp:revision>6</cp:revision>
  <dcterms:created xsi:type="dcterms:W3CDTF">2025-04-05T13:14:00Z</dcterms:created>
  <dcterms:modified xsi:type="dcterms:W3CDTF">2025-04-11T04:24:41Z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2D3F1B8241AE47348610CD9EFA48ED71_13</vt:lpwstr>
  </property>
  <property fmtid="{D5CDD505-2E9C-101B-9397-08002B2CF9AE}" pid="3" name="KSOProductBuildVer">
    <vt:lpwstr>1033-12.2.0.20782</vt:lpwstr>
  </property>
</Properties>
</file>